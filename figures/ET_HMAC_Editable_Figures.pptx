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53e300600d4591" /><Relationship Type="http://schemas.openxmlformats.org/officeDocument/2006/relationships/extended-properties" Target="/docProps/app.xml" Id="Rd8b5639f136c4aee" /><Relationship Type="http://schemas.openxmlformats.org/officeDocument/2006/relationships/officeDocument" Target="/ppt/presentation.xml" Id="R986ed613c3b64c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f2627c37a54e6b"/>
  </p:sldMasterIdLst>
  <p:notesMasterIdLst>
    <p:notesMasterId xmlns:r="http://schemas.openxmlformats.org/officeDocument/2006/relationships" r:id="Rfd4e35533c364b9c"/>
  </p:notesMasterIdLst>
  <p:sldIdLst>
    <p:sldId xmlns:r="http://schemas.openxmlformats.org/officeDocument/2006/relationships" id="256" r:id="R0920f54b768c469e"/>
    <p:sldId xmlns:r="http://schemas.openxmlformats.org/officeDocument/2006/relationships" id="257" r:id="Rf78fb38bffc747f4"/>
    <p:sldId xmlns:r="http://schemas.openxmlformats.org/officeDocument/2006/relationships" id="258" r:id="Rb537aa55d3774f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74e0737b15496a" /><Relationship Type="http://schemas.openxmlformats.org/officeDocument/2006/relationships/slideMaster" Target="/ppt/slideMasters/slideMaster1.xml" Id="Rdaf2627c37a54e6b" /><Relationship Type="http://schemas.openxmlformats.org/officeDocument/2006/relationships/notesMaster" Target="/ppt/notesMasters/notesMaster1.xml" Id="Rfd4e35533c364b9c" /><Relationship Type="http://schemas.openxmlformats.org/officeDocument/2006/relationships/presProps" Target="/ppt/presProps.xml" Id="Rc1153198fe86492a" /><Relationship Type="http://schemas.openxmlformats.org/officeDocument/2006/relationships/tableStyles" Target="/ppt/tableStyles.xml" Id="Refc5349ee1a74e84" /><Relationship Type="http://schemas.openxmlformats.org/officeDocument/2006/relationships/slide" Target="/ppt/slides/slide1.xml" Id="R0920f54b768c469e" /><Relationship Type="http://schemas.openxmlformats.org/officeDocument/2006/relationships/slide" Target="/ppt/slides/slide2.xml" Id="Rf78fb38bffc747f4" /><Relationship Type="http://schemas.openxmlformats.org/officeDocument/2006/relationships/slide" Target="/ppt/slides/slide3.xml" Id="Rb537aa55d3774f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8d6d1ccab843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3e2c79d747411c" /><Relationship Type="http://schemas.openxmlformats.org/officeDocument/2006/relationships/notesMaster" Target="/ppt/notesMasters/notesMaster1.xml" Id="R40d307ef257942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ed1170de5b4d07" /><Relationship Type="http://schemas.openxmlformats.org/officeDocument/2006/relationships/notesMaster" Target="/ppt/notesMasters/notesMaster1.xml" Id="R1bd55bfd7f7544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dbb7dad24446d3" /><Relationship Type="http://schemas.openxmlformats.org/officeDocument/2006/relationships/notesMaster" Target="/ppt/notesMasters/notesMaster1.xml" Id="Red4d68ae751545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49a7f8fea48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7dfc4820c43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b4851e7fc04e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9adffc83a41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9184a92b74e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b9291f92a4e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C7985D-1C10-4531-8E8D-BF8247862A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17BB95F-30CA-4123-AAAC-477AEA866D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431876-AB6D-4796-9C34-6CC8BA8739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4761E9-4AAD-4C46-A3DD-2DA232A9FF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4E7B13-8B66-4237-AB8A-35DC1917C1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CB48EC-5B5F-407D-908E-76CFDE367D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C80B1F-83E7-4C55-8FCB-A82AE1AAB0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BD5F37-F369-4B1D-B0B8-C23090659B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2D12B9-5C8F-43FC-8B7B-D2D3107DA2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4DA4F1-028A-4A80-844E-7B2BCBFAC7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71d7dcd9644fed" /><Relationship Type="http://schemas.openxmlformats.org/officeDocument/2006/relationships/slideLayout" Target="/ppt/slideLayouts/slideLayout1.xml" Id="R4819e913e6c642c9" /><Relationship Type="http://schemas.openxmlformats.org/officeDocument/2006/relationships/slideLayout" Target="/ppt/slideLayouts/slideLayout2.xml" Id="R5911ced3f39844c1" /><Relationship Type="http://schemas.openxmlformats.org/officeDocument/2006/relationships/slideLayout" Target="/ppt/slideLayouts/slideLayout3.xml" Id="Rf579ba8e0f784a20" /><Relationship Type="http://schemas.openxmlformats.org/officeDocument/2006/relationships/slideLayout" Target="/ppt/slideLayouts/slideLayout4.xml" Id="Ra3c40e499669452a" /><Relationship Type="http://schemas.openxmlformats.org/officeDocument/2006/relationships/slideLayout" Target="/ppt/slideLayouts/slideLayout5.xml" Id="R0bbb387b2d3d41b1" /><Relationship Type="http://schemas.openxmlformats.org/officeDocument/2006/relationships/slideLayout" Target="/ppt/slideLayouts/slideLayout6.xml" Id="R25b5478f04c54a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19e913e6c642c9"/>
    <p:sldLayoutId xmlns:r="http://schemas.openxmlformats.org/officeDocument/2006/relationships" id="2147483650" r:id="R5911ced3f39844c1"/>
    <p:sldLayoutId xmlns:r="http://schemas.openxmlformats.org/officeDocument/2006/relationships" id="2147483651" r:id="Rf579ba8e0f784a20"/>
    <p:sldLayoutId xmlns:r="http://schemas.openxmlformats.org/officeDocument/2006/relationships" id="2147483652" r:id="Ra3c40e499669452a"/>
    <p:sldLayoutId xmlns:r="http://schemas.openxmlformats.org/officeDocument/2006/relationships" id="2147483653" r:id="R0bbb387b2d3d41b1"/>
    <p:sldLayoutId xmlns:r="http://schemas.openxmlformats.org/officeDocument/2006/relationships" id="2147483654" r:id="R25b5478f04c54a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d2396bd994305" /><Relationship Type="http://schemas.openxmlformats.org/officeDocument/2006/relationships/notesSlide" Target="/ppt/notesSlides/notesSlide1.xml" Id="R91bdba8b1e0b4e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a25e8f17cb40f7" /><Relationship Type="http://schemas.openxmlformats.org/officeDocument/2006/relationships/chart" Target="/ppt/slides/charts/chart1.xml" Id="R5527318960824a3c" /><Relationship Type="http://schemas.openxmlformats.org/officeDocument/2006/relationships/notesSlide" Target="/ppt/notesSlides/notesSlide2.xml" Id="R86c5a3f5b65b40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cafc6b3924651" /><Relationship Type="http://schemas.openxmlformats.org/officeDocument/2006/relationships/chart" Target="/ppt/slides/charts/chart2.xml" Id="Rd4819555fcbc424c" /><Relationship Type="http://schemas.openxmlformats.org/officeDocument/2006/relationships/notesSlide" Target="/ppt/notesSlides/notesSlide3.xml" Id="R10230a4d824e474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Full-L2 agreement</c:v>
          </c:tx>
          <c:spPr>
            <a:solidFill xmlns:a="http://schemas.openxmlformats.org/drawingml/2006/main">
              <a:srgbClr val="2166AC"/>
            </a:solidFill>
          </c:spPr>
          <c:cat>
            <c:strRef>
              <c:f>'Chart Data'!$A$2:$A$4</c:f>
              <c:strCache>
                <c:ptCount val="3"/>
                <c:pt idx="0">
                  <c:v>Natural
(n = 400)</c:v>
                </c:pt>
                <c:pt idx="1">
                  <c:v>Stress
(n = 420)</c:v>
                </c:pt>
                <c:pt idx="2">
                  <c:v>Policy OOD
(n = 200)</c:v>
                </c:pt>
              </c:strCache>
            </c:str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88.5</c:v>
                </c:pt>
              </c:numCache>
            </c:numRef>
          </c:val>
        </c:ser>
        <c:ser>
          <c:idx val="1"/>
          <c:order val="1"/>
          <c:tx>
            <c:v>Token saving</c:v>
          </c:tx>
          <c:spPr>
            <a:solidFill xmlns:a="http://schemas.openxmlformats.org/drawingml/2006/main">
              <a:srgbClr val="D9D9D9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Natural
(n = 400)</c:v>
                </c:pt>
                <c:pt idx="1">
                  <c:v>Stress
(n = 420)</c:v>
                </c:pt>
                <c:pt idx="2">
                  <c:v>Policy OOD
(n = 200)</c:v>
                </c:pt>
              </c:strCache>
            </c:strRef>
          </c:cat>
          <c:val>
            <c:numRef>
              <c:f>'Chart Data'!$D$2:$D$4</c:f>
              <c:numCache>
                <c:formatCode>0"%"</c:formatCode>
                <c:ptCount val="3"/>
                <c:pt idx="0">
                  <c:v>88.82</c:v>
                </c:pt>
                <c:pt idx="1">
                  <c:v>84.53</c:v>
                </c:pt>
                <c:pt idx="2">
                  <c:v>-0.02</c:v>
                </c:pt>
              </c:numCache>
            </c:numRef>
          </c:val>
        </c:ser>
        <c:ser>
          <c:idx val="2"/>
          <c:order val="2"/>
          <c:tx>
            <c:v>L2 invocation</c:v>
          </c:tx>
          <c:spPr>
            <a:solidFill xmlns:a="http://schemas.openxmlformats.org/drawingml/2006/main">
              <a:srgbClr val="F1A340"/>
            </a:solidFill>
          </c:spPr>
          <c:cat>
            <c:strRef>
              <c:f>'Chart Data'!$E$2:$E$4</c:f>
              <c:strCache>
                <c:ptCount val="3"/>
                <c:pt idx="0">
                  <c:v>Natural
(n = 400)</c:v>
                </c:pt>
                <c:pt idx="1">
                  <c:v>Stress
(n = 420)</c:v>
                </c:pt>
                <c:pt idx="2">
                  <c:v>Policy OOD
(n = 200)</c:v>
                </c:pt>
              </c:strCache>
            </c:strRef>
          </c:cat>
          <c:val>
            <c:numRef>
              <c:f>'Chart Data'!$F$2:$F$4</c:f>
              <c:numCache>
                <c:formatCode>0"%"</c:formatCode>
                <c:ptCount val="3"/>
                <c:pt idx="0">
                  <c:v>4.75</c:v>
                </c:pt>
                <c:pt idx="1">
                  <c:v>8.1</c:v>
                </c:pt>
                <c:pt idx="2">
                  <c:v>100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22222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2222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05"/>
          <c:min val="-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9D9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22222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22222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Full L2</c:v>
          </c:tx>
          <c:spPr>
            <a:solidFill xmlns:a="http://schemas.openxmlformats.org/drawingml/2006/main">
              <a:srgbClr val="D9D9D9"/>
            </a:solidFill>
          </c:spPr>
          <c:cat>
            <c:strRef>
              <c:f>'Chart Data'!$A$2:$A$2</c:f>
              <c:strCache>
                <c:ptCount val="1"/>
                <c:pt idx="0">
                  <c:v>Total tokens</c:v>
                </c:pt>
              </c:strCache>
            </c:strRef>
          </c:cat>
          <c:val>
            <c:numRef>
              <c:f>'Chart Data'!$B$2:$B$2</c:f>
              <c:numCache>
                <c:formatCode>0.0</c:formatCode>
                <c:ptCount val="1"/>
                <c:pt idx="0">
                  <c:v>2.750418</c:v>
                </c:pt>
              </c:numCache>
            </c:numRef>
          </c:val>
        </c:ser>
        <c:ser>
          <c:idx val="1"/>
          <c:order val="1"/>
          <c:tx>
            <c:v>ET-HMAC</c:v>
          </c:tx>
          <c:spPr>
            <a:solidFill xmlns:a="http://schemas.openxmlformats.org/drawingml/2006/main">
              <a:srgbClr val="2166AC"/>
            </a:solidFill>
          </c:spPr>
          <c:cat>
            <c:strRef>
              <c:f>'Chart Data'!$C$2:$C$2</c:f>
              <c:strCache>
                <c:ptCount val="1"/>
                <c:pt idx="0">
                  <c:v>Total tokens</c:v>
                </c:pt>
              </c:strCache>
            </c:strRef>
          </c:cat>
          <c:val>
            <c:numRef>
              <c:f>'Chart Data'!$D$2:$D$2</c:f>
              <c:numCache>
                <c:formatCode>0.0</c:formatCode>
                <c:ptCount val="1"/>
                <c:pt idx="0">
                  <c:v>0.870253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22222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2222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22222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22222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D34D15-9852-4EF7-9383-B86A010C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120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2100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22222"/>
                </a:solidFill>
              </a:defRPr>
            </a:pPr>
            <a:r>
              <a:rPr sz="2100" b="1">
                <a:solidFill>
                  <a:srgbClr val="222222"/>
                </a:solidFill>
              </a:rPr>
              <a:t>Ontology-guided selective deliberation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6AD17-96AD-407A-A786-15D17200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63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Persistent household state, hard-guard-first routing, selective JEV escalation, and authoritative L2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DDB52-7693-46DE-AF92-5AB07DCC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66AC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350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2F9EA-AE57-42C0-A394-40B9BC49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Persistent household and ontology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D6FE4-5DE9-41AB-8403-96D68BD0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90625"/>
            <a:ext cx="24193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0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Household cognition</a:t>
            </a:r>
          </a:p>
          <a:p xmlns:a="http://schemas.openxmlformats.org/drawingml/2006/main"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attributes, state, beliefs, goals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2F1F9-FE0C-46C4-9BD6-ADB625A7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190625"/>
            <a:ext cx="24193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0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Bounded memory</a:t>
            </a:r>
          </a:p>
          <a:p xmlns:a="http://schemas.openxmlformats.org/drawingml/2006/main"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evidence, outcomes, trust updates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F676A-29C7-404D-AEAF-77BF63FF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190625"/>
            <a:ext cx="24193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0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Social network</a:t>
            </a:r>
          </a:p>
          <a:p xmlns:a="http://schemas.openxmlformats.org/drawingml/2006/main"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visible messages and relations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AE696-3AA9-4178-A35D-A6D3DBDB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190625"/>
            <a:ext cx="24193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0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Policy and market</a:t>
            </a:r>
          </a:p>
          <a:p xmlns:a="http://schemas.openxmlformats.org/drawingml/2006/main"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time-valid events and provenance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BBC0F-204A-4BD1-9590-82BD04B1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0439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9D254-27D1-42A4-B34A-8BA1A3E6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1005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CPU routing 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57D17-E1FE-446D-9C83-4109F508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2705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0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Transparent fast prior</a:t>
            </a:r>
          </a:p>
          <a:p xmlns:a="http://schemas.openxmlformats.org/drawingml/2006/main"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legal actions + utility margin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2132B-791B-43FD-9617-01DFD4F6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2705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1A340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050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Ontology hard guard</a:t>
            </a:r>
          </a:p>
          <a:p xmlns:a="http://schemas.openxmlformats.org/drawingml/2006/main">
            <a:pPr algn="ct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non-deferrable semantic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D31C7-2612-49FE-AEB9-B2C304E9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705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0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Ambiguity screen</a:t>
            </a:r>
          </a:p>
          <a:p xmlns:a="http://schemas.openxmlformats.org/drawingml/2006/main">
            <a:pPr algn="ct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non-hard candidate only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67989-9D93-42E6-AD55-D5D364C2F03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0" y="18669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9B27D-90A3-4AFF-9CB5-033A5C87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95700"/>
            <a:ext cx="2209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166AC"/>
          </a:solidFill>
          <a:ln xmlns:a="http://schemas.openxmlformats.org/drawingml/2006/main" w="14288">
            <a:solidFill>
              <a:srgbClr val="2166AC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Fast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8EBEB-CFC2-4F8F-A441-4049252D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00450"/>
            <a:ext cx="2990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166AC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200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JEV route verification</a:t>
            </a:r>
          </a:p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escalation probability + reason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F4D29-7995-4755-A357-509D83F5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2990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A340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Full semantic deliberation (L2)</a:t>
            </a:r>
          </a:p>
          <a:p xmlns:a="http://schemas.openxmlformats.org/drawingml/2006/main"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richer visible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1C10A-48ED-4700-A1FC-02E95896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813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900" b="0">
                <a:solidFill>
                  <a:srgbClr val="2166AC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166AC"/>
                </a:solidFill>
              </a:defRPr>
            </a:pPr>
            <a:r>
              <a:rPr sz="900" b="0">
                <a:solidFill>
                  <a:srgbClr val="2166AC"/>
                </a:solidFill>
              </a:rPr>
              <a:t>low risk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418A8-95CB-498B-84A3-FDB7C2F3151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209800" y="2895600"/>
            <a:ext cx="333375" cy="7810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166AC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BE8F1-F2A8-4BAF-A932-432E5FC5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813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9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non-hard ambiguity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7126C-5F7A-4D75-864C-8A3B70DAF700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762625" y="2895600"/>
            <a:ext cx="3876675" cy="6667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0187C2-ED71-4CD9-B81C-05D9A563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9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hard event bypasses JEV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1F3826-EC30-4004-B7C9-FF4C5477904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0" y="2895600"/>
            <a:ext cx="3667125" cy="657225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F1A340"/>
            </a:solidFill>
            <a:prstDash val="soli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6ABEC-DB5B-4DF9-980B-3479A475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14800"/>
            <a:ext cx="885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9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no escalation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FDE38-016A-47FA-A5B7-1965A5CA47E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371850" y="40576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6AC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69BDD-EECA-4F0F-8C96-9EBE4DF4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8576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900" b="0">
                <a:solidFill>
                  <a:srgbClr val="F1A340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F1A340"/>
                </a:solidFill>
              </a:defRPr>
            </a:pPr>
            <a:r>
              <a:rPr sz="900" b="0">
                <a:solidFill>
                  <a:srgbClr val="F1A340"/>
                </a:solidFill>
              </a:rPr>
              <a:t>escalate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0D2A46-C2E6-4F89-82E1-89DF9D746E1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39000" y="4048125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1A340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CC0119-0643-4D2B-BEE9-B38977FC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895850"/>
            <a:ext cx="3981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200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Frozen runtime validation</a:t>
            </a:r>
          </a:p>
          <a:p xmlns:a="http://schemas.openxmlformats.org/drawingml/2006/main">
            <a:pPr algn="ctr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schema, legality, time boundary, evidence boundary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9F0C4A-6A3E-45A7-8A70-F7F66EB1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38700"/>
            <a:ext cx="29908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166AC"/>
          </a:solidFill>
          <a:ln xmlns:a="http://schemas.openxmlformats.org/drawingml/2006/main" w="14288">
            <a:solidFill>
              <a:srgbClr val="2166AC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Committed household action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valid L2 is final; disagreement never triggers fallback</a:t>
            </a:r>
          </a:p>
        </p:txBody>
      </p: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21CD64-A22F-4565-9892-A331DA543B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24225" y="4248150"/>
            <a:ext cx="74295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166AC"/>
            </a:solidFill>
            <a:prstDash val="solid"/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9315B6-D7C9-441F-88C3-AC0157F7ECC8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8086725" y="4286250"/>
            <a:ext cx="18097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1A340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81F4D4-02E3-4E21-997E-64060ADC524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086725" y="52482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166AC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406A86-A493-4B82-9C44-37197B0E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815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900" b="0">
                <a:solidFill>
                  <a:srgbClr val="2166AC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166AC"/>
                </a:solidFill>
              </a:defRPr>
            </a:pPr>
            <a:r>
              <a:rPr sz="900" b="0">
                <a:solidFill>
                  <a:srgbClr val="2166AC"/>
                </a:solidFill>
              </a:rPr>
              <a:t>valid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0B6A9C-39D5-4259-B2BB-BA6185EC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010275"/>
            <a:ext cx="927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4288">
            <a:solidFill>
              <a:srgbClr val="222222"/>
            </a:solidFill>
            <a:prstDash val="solid"/>
          </a:ln>
        </p:spPr>
        <p:txBody>
          <a:bodyPr xmlns:a="http://schemas.openxmlformats.org/drawingml/2006/main" lIns="66675" tIns="66675" rIns="66675" bIns="66675" anchor="ctr"/>
          <a:lstStyle xmlns:a="http://schemas.openxmlformats.org/drawingml/2006/main">
            <a:defPPr algn="ctr">
              <a:defRPr sz="127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Environment execution and state transition</a:t>
            </a:r>
          </a:p>
        </p:txBody>
      </p: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678F74-E55D-4243-BF79-A728166ACB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63125" y="565785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6AC"/>
            </a:solidFill>
            <a:prstDash val="solid"/>
            <a:tailEnd type="arrow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27320E-D256-427C-A1AF-E3C23453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257925"/>
            <a:ext cx="697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9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outcome updates assets, tenure, beliefs, trust, memory, and the next visible state</a:t>
            </a:r>
          </a:p>
        </p:txBody>
      </p: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1AD726-1F55-4056-BF0B-6E3A2BCDB214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771525" y="1219200"/>
            <a:ext cx="685800" cy="50387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6FE972-14D7-4FA4-A5DE-F57CD81F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67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9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next round</a:t>
            </a:r>
          </a:p>
        </p:txBody>
      </p:sp>
    </p:spTree>
    <p:extLst>
      <p:ext uri="{BB962C8B-B14F-4D97-AF65-F5344CB8AC3E}">
        <p14:creationId xmlns:p14="http://schemas.microsoft.com/office/powerpoint/2010/main" val="1528590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3B019-61E0-4513-9806-B907E311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120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2100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22222"/>
                </a:solidFill>
              </a:defRPr>
            </a:pPr>
            <a:r>
              <a:rPr sz="2100" b="1">
                <a:solidFill>
                  <a:srgbClr val="222222"/>
                </a:solidFill>
              </a:rPr>
              <a:t>Quality and routing differ sharply across evaluation cohorts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30846-07F0-4355-81B3-76AA5E7E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63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Stage 9D independent holdout; percentages are computed from frozen receipts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530A2AC-0518-4E72-ACFA-09CBE23C0C86}"/>
              </a:ext>
            </a:extLst>
          </p:cNvPr>
          <p:cNvGraphicFramePr/>
          <p:nvPr/>
        </p:nvGraphicFramePr>
        <p:xfrm>
          <a:off xmlns:a="http://schemas.openxmlformats.org/drawingml/2006/main" x="876300" y="1104900"/>
          <a:ext xmlns:a="http://schemas.openxmlformats.org/drawingml/2006/main" cx="104394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27318960824a3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644E2-4B53-4451-BBC1-4A2D58BF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Agreement is relative to a separately executed full-L2 reference. It is not observed household-behaviour accuracy.</a:t>
            </a:r>
          </a:p>
        </p:txBody>
      </p:sp>
    </p:spTree>
    <p:extLst>
      <p:ext uri="{BB962C8B-B14F-4D97-AF65-F5344CB8AC3E}">
        <p14:creationId xmlns:p14="http://schemas.microsoft.com/office/powerpoint/2010/main" val="1449204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50503-A59D-4F39-BA8C-FF93DBEF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1120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2100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22222"/>
                </a:solidFill>
              </a:defRPr>
            </a:pPr>
            <a:r>
              <a:rPr sz="2100" b="1">
                <a:solidFill>
                  <a:srgbClr val="222222"/>
                </a:solidFill>
              </a:rPr>
              <a:t>Selective deliberation preserves the reference with fewer tokens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A96AE-BABC-42ED-A2EC-EB5812B4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63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97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Overall Stage 9D holdout, N = 1,020 household-event records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274BAE0-CBD3-4D23-ACAD-ED8AFDB9706F}"/>
              </a:ext>
            </a:extLst>
          </p:cNvPr>
          <p:cNvGraphicFramePr/>
          <p:nvPr/>
        </p:nvGraphicFramePr>
        <p:xfrm>
          <a:off xmlns:a="http://schemas.openxmlformats.org/drawingml/2006/main" x="800100" y="1276350"/>
          <a:ext xmlns:a="http://schemas.openxmlformats.org/drawingml/2006/main" cx="59817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819555fcbc424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E8824-EFAC-4EE1-BE5D-F48A377D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01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050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Total tokens (millions)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3A0D3-D714-47C8-A7E8-07C85493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2850" b="1">
                <a:solidFill>
                  <a:srgbClr val="2166AC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166AC"/>
                </a:solidFill>
              </a:defRPr>
            </a:pPr>
            <a:r>
              <a:rPr sz="2850" b="1">
                <a:solidFill>
                  <a:srgbClr val="2166AC"/>
                </a:solidFill>
              </a:rPr>
              <a:t>97.75%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7E25F-7D9F-446B-ABA9-C79729DB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431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27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agreement with independent full L2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116A5-DE32-4FED-8853-E6FB5E62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2850" b="1">
                <a:solidFill>
                  <a:srgbClr val="2166AC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166AC"/>
                </a:solidFill>
              </a:defRPr>
            </a:pPr>
            <a:r>
              <a:rPr sz="2850" b="1">
                <a:solidFill>
                  <a:srgbClr val="2166AC"/>
                </a:solidFill>
              </a:rPr>
              <a:t>68.36%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1E6EA-0F4C-4774-9F87-83370257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24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27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token saving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D89F4-D2DE-4C57-88F5-15DCDC99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2850" b="1">
                <a:solidFill>
                  <a:srgbClr val="F1A340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1A340"/>
                </a:solidFill>
              </a:defRPr>
            </a:pPr>
            <a:r>
              <a:rPr sz="2850" b="1">
                <a:solidFill>
                  <a:srgbClr val="F1A340"/>
                </a:solidFill>
              </a:rPr>
              <a:t>24.80%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9EB61-D35F-4DFB-834E-061BC3E2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27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L2 invocation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AE28A-451E-43B6-BAD1-67E4D54B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720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2400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22222"/>
                </a:solidFill>
              </a:defRPr>
            </a:pPr>
            <a:r>
              <a:rPr sz="2400" b="1">
                <a:solidFill>
                  <a:srgbClr val="222222"/>
                </a:solidFill>
              </a:rPr>
              <a:t>500 / 500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96903-05FB-4704-A502-880621A8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483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27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expert consensus matched full L2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6637A-1DE3-426B-B77E-6643DAA0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76950"/>
            <a:ext cx="1042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l">
              <a:defRPr sz="10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Expert agreement supports face validity. It does not establish observed household-choice accuracy.</a:t>
            </a:r>
          </a:p>
        </p:txBody>
      </p:sp>
    </p:spTree>
    <p:extLst>
      <p:ext uri="{BB962C8B-B14F-4D97-AF65-F5344CB8AC3E}">
        <p14:creationId xmlns:p14="http://schemas.microsoft.com/office/powerpoint/2010/main" val="437262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2026-10-09T06:24:07.4710000Z</dcterms:created>
  <dcterms:modified xsi:type="dcterms:W3CDTF">2026-10-09T06:24:07.4710000Z</dcterms:modified>
</coreProperties>
</file>